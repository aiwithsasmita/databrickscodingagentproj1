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sec.gov/Archives/edgar/data/731766/000073176626000025/unh-20260127.htm" TargetMode="External"/><Relationship Id="rId3" Type="http://schemas.openxmlformats.org/officeDocument/2006/relationships/hyperlink" Target="https://www.unitedhealthgroup.com/newsroom/2025/2025-16-01-uhg-reports-fourth-quarter-results.html" TargetMode="External"/><Relationship Id="rId4" Type="http://schemas.openxmlformats.org/officeDocument/2006/relationships/hyperlink" Target="https://www.beckerspayer.com/financial/payers-ranked-by-2025-medical-loss-ratios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unitedhealthgroup.com/investors/financial-reports.html" TargetMode="External"/><Relationship Id="rId3" Type="http://schemas.openxmlformats.org/officeDocument/2006/relationships/hyperlink" Target="https://www.beckerspayer.com/financial/payers-ranked-by-2025-medical-loss-ratios/" TargetMode="External"/><Relationship Id="rId4" Type="http://schemas.openxmlformats.org/officeDocument/2006/relationships/hyperlink" Target="https://www.beckerspayer.com/financial/unitedhealths-2025-profit-dips-to-12-1b/" TargetMode="External"/><Relationship Id="rId5" Type="http://schemas.openxmlformats.org/officeDocument/2006/relationships/hyperlink" Target="https://www.sec.gov/cgi-bin/browse-edgar?action=getcompany&amp;CIK=0000731766&amp;type=10-K&amp;dateb=&amp;owner=include&amp;count=10" TargetMode="External"/><Relationship Id="rId6" Type="http://schemas.openxmlformats.org/officeDocument/2006/relationships/hyperlink" Target="https://www.beckerspayer.com/payer/care-costs-keep-climbing-for-unitedhealth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ebri.org/health/center-for-research-on-health-benefits-innovation/content/high-cost-health-care-claimants-health-spending-and-chronic-condition-prevalence-in-2021" TargetMode="External"/><Relationship Id="rId3" Type="http://schemas.openxmlformats.org/officeDocument/2006/relationships/hyperlink" Target="https://nihcm.org/publications/the-concentration-of-health-care-spending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26012"/>
                </a:solidFill>
                <a:latin typeface="Calibri"/>
              </a:defRPr>
            </a:pPr>
            <a:r>
              <a:t>NEXT Gen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B3A5C"/>
                </a:solidFill>
                <a:latin typeface="Calibri"/>
              </a:defRPr>
            </a:pPr>
            <a:r>
              <a:t>AEGIS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2E75B6"/>
                </a:solidFill>
                <a:latin typeface="Calibri"/>
              </a:defRPr>
            </a:pPr>
            <a:r>
              <a:t>Advanced Early Warning Signal Intelligent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3A5C"/>
                </a:solidFill>
                <a:latin typeface="Calibri"/>
              </a:defRPr>
            </a:pPr>
            <a:r>
              <a:t>Member Risk Scoring  &amp;  Provider Risk Scoring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February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UnitedHealth Group  |  Data Science &amp; Analytics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0" y="6537960"/>
            <a:ext cx="12191695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1B3A5C"/>
                </a:solidFill>
                <a:latin typeface="Calibri"/>
              </a:rPr>
              <a:t>UNITEDHEALTHGROUP</a:t>
            </a:r>
            <a:r>
              <a:rPr sz="700" b="1">
                <a:solidFill>
                  <a:srgbClr val="D26012"/>
                </a:solidFill>
                <a:latin typeface="Calibri"/>
              </a:rPr>
              <a:t>  (Optum)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65379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88"/>
                </a:solidFill>
                <a:latin typeface="Calibri"/>
              </a:defRPr>
            </a:pPr>
            <a:r>
              <a:t>© 2026 UnitedHealth Group Inc. All rights reserved.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888888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1064240" cy="475488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640080" cy="475488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09728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Why Now? The Medical Cost Crisis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1247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UHC MLR trend 2023-2025 from earnings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63624"/>
            <a:ext cx="1106424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563624"/>
            <a:ext cx="640080" cy="475488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09344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60934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The Pricing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63677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Quarterly MCR trajectory and actuarial blind spot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075688"/>
            <a:ext cx="11064240" cy="475488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2075688"/>
            <a:ext cx="640080" cy="475488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121408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12140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Three Compounding Problems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1488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Cost concentration, pricing gap, no early warning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587752"/>
            <a:ext cx="1106424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2587752"/>
            <a:ext cx="640080" cy="475488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63347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263347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Overall Objective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66090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AEGIS platform: Member + Provider risk scoring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099816"/>
            <a:ext cx="11064240" cy="475488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3099816"/>
            <a:ext cx="640080" cy="475488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145536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14553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Member Risk Scoring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1729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Two-stage ML pipeline, risk tiers, scale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611880"/>
            <a:ext cx="1106424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3611880"/>
            <a:ext cx="640080" cy="475488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65760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365760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Provider Risk Scoring (PEPI)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368503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Administrative Yield: why similar care = different paid cost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123944"/>
            <a:ext cx="11064240" cy="475488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48640" y="4123944"/>
            <a:ext cx="640080" cy="475488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4169664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416966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End-to-End Architecture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19709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Data layers, logic layers, dashboard, end users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636008"/>
            <a:ext cx="1106424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48640" y="4636008"/>
            <a:ext cx="640080" cy="475488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4681728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468172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Timeline &amp; Roadmap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47091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4 MVPs: Feb 2026 to Jun 2026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148072"/>
            <a:ext cx="11064240" cy="475488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48640" y="5148072"/>
            <a:ext cx="640080" cy="475488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5193792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519379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Expected Operational Impact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522122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MCR levers, efficiency, strategic advantage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8640" y="5660136"/>
            <a:ext cx="11064240" cy="475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48640" y="5660136"/>
            <a:ext cx="640080" cy="475488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" y="5705856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71600" y="570585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Ask &amp; Next Steps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0" y="573328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Approvals and actions needed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0" y="6537960"/>
            <a:ext cx="12191695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1B3A5C"/>
                </a:solidFill>
                <a:latin typeface="Calibri"/>
              </a:rPr>
              <a:t>UNITEDHEALTHGROUP</a:t>
            </a:r>
            <a:r>
              <a:rPr sz="700" b="1">
                <a:solidFill>
                  <a:srgbClr val="D26012"/>
                </a:solidFill>
                <a:latin typeface="Calibri"/>
              </a:rPr>
              <a:t>  (Optum)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00400" y="65379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88"/>
                </a:solidFill>
                <a:latin typeface="Calibri"/>
              </a:defRPr>
            </a:pPr>
            <a:r>
              <a:t>© 2026 UnitedHealth Group Inc. All rights reserved.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888888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3A5C"/>
                </a:solidFill>
                <a:latin typeface="Calibri"/>
              </a:defRPr>
            </a:pPr>
            <a:r>
              <a:t>Why Now?  The Medical Cost Crisis Is Accelerating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"The full year 2025 adjusted medical care ratio was 88.9% compared to 85.5% in 2024 ... CMS Medicare funding reductions</a:t>
            </a:r>
            <a:br/>
            <a:r>
              <a:t>and changes from the Inflation Reduction Act combined with accelerating medical cost trends."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57799"/>
                </a:solidFill>
                <a:latin typeface="Calibri"/>
              </a:defRPr>
            </a:pPr>
            <a:r>
              <a:t>Source: UNH Q4 2025 Earnings Release, Jan 27, 2026  |  unitedhealthgroup.com/investors/financial-reports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Medical Care Ratio  (Annual)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25250"/>
            <a:ext cx="1005840" cy="1086829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0521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  <a:latin typeface="Calibri"/>
              </a:defRPr>
            </a:pPr>
            <a:r>
              <a:t>83.2%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57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3A5C"/>
                </a:solidFill>
                <a:latin typeface="Calibri"/>
              </a:defRPr>
            </a:pPr>
            <a:r>
              <a:t>2023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8840" y="3644537"/>
            <a:ext cx="1005840" cy="1567542"/>
          </a:xfrm>
          <a:prstGeom prst="roundRect">
            <a:avLst/>
          </a:prstGeom>
          <a:solidFill>
            <a:srgbClr val="D48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3324497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8B2D"/>
                </a:solidFill>
                <a:latin typeface="Calibri"/>
              </a:defRPr>
            </a:pPr>
            <a:r>
              <a:t>85.5%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5257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3A5C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892116"/>
            <a:ext cx="1005840" cy="2319963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257207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392B"/>
                </a:solidFill>
                <a:latin typeface="Calibri"/>
              </a:defRPr>
            </a:pPr>
            <a:r>
              <a:t>89.1%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5257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3A5C"/>
                </a:solidFill>
                <a:latin typeface="Calibri"/>
              </a:defRPr>
            </a:pPr>
            <a:r>
              <a:t>2025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2954818"/>
            <a:ext cx="1005840" cy="2257261"/>
          </a:xfrm>
          <a:prstGeom prst="roundRect">
            <a:avLst/>
          </a:prstGeom>
          <a:noFill/>
          <a:ln w="2540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63477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472C4"/>
                </a:solidFill>
                <a:latin typeface="Calibri"/>
              </a:defRPr>
            </a:pPr>
            <a:r>
              <a:t>88.8%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52578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3A5C"/>
                </a:solidFill>
                <a:latin typeface="Calibri"/>
              </a:defRPr>
            </a:pPr>
            <a:r>
              <a:t>2026E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103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48B2D"/>
                </a:solidFill>
                <a:latin typeface="Calibri"/>
              </a:defRPr>
            </a:pPr>
            <a:r>
              <a:t>+2.3 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1965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0392B"/>
                </a:solidFill>
                <a:latin typeface="Calibri"/>
              </a:defRPr>
            </a:pPr>
            <a:r>
              <a:t>+3.6 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691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What The Earnings Reports Reveal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194560"/>
            <a:ext cx="1463040" cy="12344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22860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360 bps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7889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MCR Deterioration</a:t>
            </a:r>
            <a:br/>
            <a:r>
              <a:t>in Just 2 Years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2240280"/>
            <a:ext cx="3840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"The full year 2025 adjusted medical care ratio was 88.9% compared to 85.5% in 2024." Medical costs grew faster than premium revenue -- the pricing gap widened every quarter.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611880"/>
            <a:ext cx="1463040" cy="1234440"/>
          </a:xfrm>
          <a:prstGeom prst="roundRect">
            <a:avLst/>
          </a:prstGeom>
          <a:solidFill>
            <a:srgbClr val="D48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370332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2062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Operating Margin</a:t>
            </a:r>
            <a:br/>
            <a:r>
              <a:t>Down from 5.2%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3657600"/>
            <a:ext cx="3840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"Operating margin of 2.7% compared to 5.2% in 2024, primarily due to Biden-era Medicare funding reductions and Inflation Reduction Act impacts combined with elevated medical cost trends."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5029200"/>
            <a:ext cx="1463040" cy="123444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51206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92.4%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56235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Q4 2025 MCR</a:t>
            </a:r>
            <a:br/>
            <a:r>
              <a:t>Highest in a Decade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5074920"/>
            <a:ext cx="3840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UNH took a restructuring charge in Q4 and restructured leadership. "The company laid the foundation for more disciplined and transparent operations, stronger performance and sustained growth."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>
                <a:solidFill>
                  <a:srgbClr val="557799"/>
                </a:solidFill>
                <a:latin typeface="Calibri"/>
              </a:rPr>
              <a:t>Sources:
</a:t>
            </a:r>
            <a:r>
              <a:rPr sz="700" u="sng">
                <a:solidFill>
                  <a:srgbClr val="1A5CA8"/>
                </a:solidFill>
                <a:latin typeface="Calibri"/>
                <a:hlinkClick r:id="rId2"/>
              </a:rPr>
              <a:t>[1] UNH 2025 Annual Earnings Release (Jan 27, 2026), pp 1-3  </a:t>
            </a:r>
            <a:r>
              <a:rPr sz="700" u="sng">
                <a:solidFill>
                  <a:srgbClr val="1A5CA8"/>
                </a:solidFill>
                <a:latin typeface="Calibri"/>
                <a:hlinkClick r:id="rId3"/>
              </a:rPr>
              <a:t>
[2] UNH Q4 2024 Earnings Release (Jan 16, 2025), pp 1-2  </a:t>
            </a:r>
            <a:r>
              <a:rPr sz="700" u="sng">
                <a:solidFill>
                  <a:srgbClr val="1A5CA8"/>
                </a:solidFill>
                <a:latin typeface="Calibri"/>
                <a:hlinkClick r:id="rId4"/>
              </a:rPr>
              <a:t>
[3] Becker's Payer Issues - Payers ranked by 2025 MLRs 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0" y="6537960"/>
            <a:ext cx="12191695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1B3A5C"/>
                </a:solidFill>
                <a:latin typeface="Calibri"/>
              </a:rPr>
              <a:t>UNITEDHEALTHGROUP</a:t>
            </a:r>
            <a:r>
              <a:rPr sz="700" b="1">
                <a:solidFill>
                  <a:srgbClr val="D26012"/>
                </a:solidFill>
                <a:latin typeface="Calibri"/>
              </a:rPr>
              <a:t>  (Optum)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65379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88"/>
                </a:solidFill>
                <a:latin typeface="Calibri"/>
              </a:defRPr>
            </a:pPr>
            <a:r>
              <a:t>© 2026 UnitedHealth Group Inc. All rights reserved.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888888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3A5C"/>
                </a:solidFill>
                <a:latin typeface="Calibri"/>
              </a:defRPr>
            </a:pPr>
            <a:r>
              <a:t>The Pricing Gap  —  Why Actuaries Need Early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Premiums are priced using backward-looking assumptions. When medical cost trends accelerate faster than pricing can adjust, the gap widens every quarter.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Quarterly MCR Trajectory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463040" cy="3657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92807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Quarter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1874519"/>
            <a:ext cx="1463040" cy="3657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1892807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2024 MCR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74519"/>
            <a:ext cx="1463040" cy="3657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892807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2025 MCR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1874519"/>
            <a:ext cx="1645920" cy="3657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1892807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YoY Gap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258567"/>
            <a:ext cx="1463040" cy="329184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267711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Q1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03120" y="2258567"/>
            <a:ext cx="1463040" cy="329184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48840" y="2267711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84.3%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2258567"/>
            <a:ext cx="1463040" cy="329184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20" y="2267711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84.8%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12080" y="2258567"/>
            <a:ext cx="1645920" cy="329184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57800" y="2267711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+0.5 pts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606039"/>
            <a:ext cx="1463040" cy="3291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615183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Q2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03120" y="2606039"/>
            <a:ext cx="1463040" cy="3291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48840" y="2615183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85.1%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0" y="2606039"/>
            <a:ext cx="1463040" cy="3291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03320" y="2615183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89.4%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12080" y="2606039"/>
            <a:ext cx="1645920" cy="3291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57800" y="2615183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0392B"/>
                </a:solidFill>
                <a:latin typeface="Calibri"/>
              </a:defRPr>
            </a:pPr>
            <a:r>
              <a:t>+4.3 pts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2953511"/>
            <a:ext cx="1463040" cy="329184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2962655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Q3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03120" y="2953511"/>
            <a:ext cx="1463040" cy="329184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48840" y="2962655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85.2%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0" y="2953511"/>
            <a:ext cx="1463040" cy="329184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03320" y="2962655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89.9%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212080" y="2953511"/>
            <a:ext cx="1645920" cy="329184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57800" y="2962655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0392B"/>
                </a:solidFill>
                <a:latin typeface="Calibri"/>
              </a:defRPr>
            </a:pPr>
            <a:r>
              <a:t>+4.7 pts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3300983"/>
            <a:ext cx="1463040" cy="3291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3310127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Q4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03120" y="3300983"/>
            <a:ext cx="1463040" cy="3291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48840" y="3310127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~87.6%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600" y="3300983"/>
            <a:ext cx="1463040" cy="3291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03320" y="3310127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92.4%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212080" y="3300983"/>
            <a:ext cx="1645920" cy="3291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57800" y="3310127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0392B"/>
                </a:solidFill>
                <a:latin typeface="Calibri"/>
              </a:defRPr>
            </a:pPr>
            <a:r>
              <a:t>+4.8 pts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3648455"/>
            <a:ext cx="1463040" cy="329184"/>
          </a:xfrm>
          <a:prstGeom prst="roundRect">
            <a:avLst/>
          </a:prstGeom>
          <a:solidFill>
            <a:srgbClr val="E8D5C4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3657599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5C"/>
                </a:solidFill>
                <a:latin typeface="Calibri"/>
              </a:defRPr>
            </a:pPr>
            <a:r>
              <a:t>Full Year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103120" y="3648455"/>
            <a:ext cx="1463040" cy="329184"/>
          </a:xfrm>
          <a:prstGeom prst="roundRect">
            <a:avLst/>
          </a:prstGeom>
          <a:solidFill>
            <a:srgbClr val="E8D5C4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48840" y="3657599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5C"/>
                </a:solidFill>
                <a:latin typeface="Calibri"/>
              </a:defRPr>
            </a:pPr>
            <a:r>
              <a:t>85.5%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57600" y="3648455"/>
            <a:ext cx="1463040" cy="329184"/>
          </a:xfrm>
          <a:prstGeom prst="roundRect">
            <a:avLst/>
          </a:prstGeom>
          <a:solidFill>
            <a:srgbClr val="E8D5C4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03320" y="3657599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5C"/>
                </a:solidFill>
                <a:latin typeface="Calibri"/>
              </a:defRPr>
            </a:pPr>
            <a:r>
              <a:t>89.1%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212080" y="3648455"/>
            <a:ext cx="1645920" cy="329184"/>
          </a:xfrm>
          <a:prstGeom prst="roundRect">
            <a:avLst/>
          </a:prstGeom>
          <a:solidFill>
            <a:srgbClr val="E8D5C4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57800" y="3657599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5C"/>
                </a:solidFill>
                <a:latin typeface="Calibri"/>
              </a:defRPr>
            </a:pPr>
            <a:r>
              <a:t>+3.6 pts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0" y="1417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The Accelerating Gap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412480" y="1874519"/>
            <a:ext cx="137160" cy="8686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0" y="187451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Calibri"/>
              </a:defRPr>
            </a:pPr>
            <a:r>
              <a:t>Q1 2025: Manageable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214883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Still within actuarial tolerance. Pricing adjustments proceeding normally.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412480" y="2926079"/>
            <a:ext cx="137160" cy="868680"/>
          </a:xfrm>
          <a:prstGeom prst="roundRect">
            <a:avLst/>
          </a:prstGeom>
          <a:solidFill>
            <a:srgbClr val="D48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86800" y="292607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8B2D"/>
                </a:solidFill>
                <a:latin typeface="Calibri"/>
              </a:defRPr>
            </a:pPr>
            <a:r>
              <a:t>Q2 2025: Warning Signs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6800" y="320039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Specialty Rx costs spiked. Hospital coding intensity increased. IRA Part D changes hit.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412480" y="3977639"/>
            <a:ext cx="137160" cy="86868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86800" y="397763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Calibri"/>
              </a:defRPr>
            </a:pPr>
            <a:r>
              <a:t>Q3 2025: Crisis Level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0" y="4251959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Medical trend outpacing pricing. UNH raised earnings outlook but MCR kept climbing quarter after quarter.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412480" y="5029200"/>
            <a:ext cx="137160" cy="868680"/>
          </a:xfrm>
          <a:prstGeom prst="round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686800" y="50292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0000"/>
                </a:solidFill>
                <a:latin typeface="Calibri"/>
              </a:defRPr>
            </a:pPr>
            <a:r>
              <a:t>Q4 2025: Emergency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86800" y="53035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MCR hit 92.4%. Restructuring charge taken. Company restructured leadership and operations.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7200" y="4754880"/>
            <a:ext cx="11247120" cy="146304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THE CORE OBJECTIVE:  Predict Member-Level Medical Spend Before Actuaries Set Prices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4400" y="5349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6E4F0"/>
                </a:solidFill>
                <a:latin typeface="Calibri"/>
              </a:defRPr>
            </a:pPr>
            <a:r>
              <a:t>▸  If we can predict which members will become high-cost NEXT QUARTER, actuaries can price premiums with 90-day forward visibility instead of 12-month backward assumptions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4400" y="566927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6E4F0"/>
                </a:solidFill>
                <a:latin typeface="Calibri"/>
              </a:defRPr>
            </a:pPr>
            <a:r>
              <a:t>▸  Every 100 basis points of MCR improvement directly recovers operating margin -- the difference between 2.7% and 5.2% margin that UHC lost in one year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4400" y="5989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6E4F0"/>
                </a:solidFill>
                <a:latin typeface="Calibri"/>
              </a:defRPr>
            </a:pPr>
            <a:r>
              <a:t>▸  Early signals feed three critical functions:  (1) Care Management for intervention  (2) Actuarial for pricing accuracy  (3) Stop-Loss for reserve adequacy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>
                <a:solidFill>
                  <a:srgbClr val="557799"/>
                </a:solidFill>
                <a:latin typeface="Calibri"/>
              </a:rPr>
              <a:t>Sources:  </a:t>
            </a:r>
            <a:r>
              <a:rPr sz="700" u="sng">
                <a:solidFill>
                  <a:srgbClr val="1A5CA8"/>
                </a:solidFill>
                <a:latin typeface="Calibri"/>
                <a:hlinkClick r:id="rId2"/>
              </a:rPr>
              <a:t>UNH Q1-Q4 2025 Quarterly Earnings Releases</a:t>
            </a:r>
            <a:r>
              <a:rPr sz="700">
                <a:solidFill>
                  <a:srgbClr val="557799"/>
                </a:solidFill>
                <a:latin typeface="Calibri"/>
              </a:rPr>
              <a:t>  |  </a:t>
            </a:r>
            <a:r>
              <a:rPr sz="700" u="sng">
                <a:solidFill>
                  <a:srgbClr val="1A5CA8"/>
                </a:solidFill>
                <a:latin typeface="Calibri"/>
                <a:hlinkClick r:id="rId3"/>
              </a:rPr>
              <a:t>Becker's: Payers ranked by 2025 MLRs</a:t>
            </a:r>
            <a:r>
              <a:rPr sz="700">
                <a:solidFill>
                  <a:srgbClr val="557799"/>
                </a:solidFill>
                <a:latin typeface="Calibri"/>
              </a:rPr>
              <a:t>  |  </a:t>
            </a:r>
            <a:r>
              <a:rPr sz="700" u="sng">
                <a:solidFill>
                  <a:srgbClr val="1A5CA8"/>
                </a:solidFill>
                <a:latin typeface="Calibri"/>
                <a:hlinkClick r:id="rId4"/>
              </a:rPr>
              <a:t>Becker's: UnitedHealth 2025 profit analysis</a:t>
            </a:r>
            <a:r>
              <a:rPr sz="700">
                <a:solidFill>
                  <a:srgbClr val="557799"/>
                </a:solidFill>
                <a:latin typeface="Calibri"/>
              </a:rPr>
              <a:t>
</a:t>
            </a:r>
            <a:r>
              <a:rPr sz="700" u="sng">
                <a:solidFill>
                  <a:srgbClr val="1A5CA8"/>
                </a:solidFill>
                <a:latin typeface="Calibri"/>
                <a:hlinkClick r:id="rId5"/>
              </a:rPr>
              <a:t>SEC 10-K/10-Q filings (2024-2025)</a:t>
            </a:r>
            <a:r>
              <a:rPr sz="700">
                <a:solidFill>
                  <a:srgbClr val="557799"/>
                </a:solidFill>
                <a:latin typeface="Calibri"/>
              </a:rPr>
              <a:t>  |  </a:t>
            </a:r>
            <a:r>
              <a:rPr sz="700" u="sng">
                <a:solidFill>
                  <a:srgbClr val="1A5CA8"/>
                </a:solidFill>
                <a:latin typeface="Calibri"/>
                <a:hlinkClick r:id="rId6"/>
              </a:rPr>
              <a:t>Becker's: Care costs keep climbing for UnitedHealth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Three Compounding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The MLR crisis is a symptom. These are the root causes we can address with data science.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474720" cy="438912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High-Cost Claimant</a:t>
            </a:r>
            <a:br/>
            <a:r>
              <a:t>Concentration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Top 1% of members generate ~28% of total medical spend (EBRI 2023). Top 5% account for over half. These members ARE identifiable 90 days before cost spikes, but we have no systematic prediction engine.</a:t>
            </a:r>
            <a:br/>
            <a:br/>
            <a:r>
              <a:t>With 89.1% MCR, every avoidable high-cost event directly erodes operating margin.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937760"/>
            <a:ext cx="3200400" cy="8229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983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Top 1% = ~28% of spend (EBRI)</a:t>
            </a:r>
            <a:br/>
            <a:r>
              <a:t>Predictable 90 days early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554480"/>
            <a:ext cx="3474720" cy="438912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691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Actuarial Pricing</a:t>
            </a:r>
            <a:br/>
            <a:r>
              <a:t>Blind Spot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33172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Premiums are set using population-level historical trends. But medical costs accelerated faster than pricing could adjust -- MCR jumped 360 bps in 2 years.</a:t>
            </a:r>
            <a:br/>
            <a:br/>
            <a:r>
              <a:t>Member-level spend prediction gives Actuarial a 90-day forward view to price with, not a 12-month backward mirror.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39" y="4937760"/>
            <a:ext cx="3200400" cy="8229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79" y="4983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MCR went from 83.2% to 89.1%</a:t>
            </a:r>
            <a:br/>
            <a:r>
              <a:t>Pricing could not keep 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554480"/>
            <a:ext cx="3474720" cy="438912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9" y="1691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No Unified</a:t>
            </a:r>
            <a:br/>
            <a:r>
              <a:t>Early Warning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233172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Care Management, Actuarial, Stop-Loss, and Network teams all react AFTER costs are incurred. No shared predictive signal connects them.</a:t>
            </a:r>
            <a:br/>
            <a:br/>
            <a:r>
              <a:t>Q4 2025 MCR hit 92.4% -- proving that by the time lagging indicators catch up, the damage is done.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4937760"/>
            <a:ext cx="3200400" cy="8229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49834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Q4 2025 MCR: 92.4%</a:t>
            </a:r>
            <a:br/>
            <a:r>
              <a:t>Reactive = too 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43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>
                <a:solidFill>
                  <a:srgbClr val="557799"/>
                </a:solidFill>
                <a:latin typeface="Calibri"/>
              </a:rPr>
              <a:t>Source:  </a:t>
            </a:r>
            <a:r>
              <a:rPr sz="700" u="sng">
                <a:solidFill>
                  <a:srgbClr val="1A5CA8"/>
                </a:solidFill>
                <a:latin typeface="Calibri"/>
                <a:hlinkClick r:id="rId2"/>
              </a:rPr>
              <a:t>EBRI Issue Brief #493 - High-Cost Health Care Claimants (2023)</a:t>
            </a:r>
            <a:r>
              <a:rPr sz="700">
                <a:solidFill>
                  <a:srgbClr val="557799"/>
                </a:solidFill>
                <a:latin typeface="Calibri"/>
              </a:rPr>
              <a:t>  |  </a:t>
            </a:r>
            <a:r>
              <a:rPr sz="700" u="sng">
                <a:solidFill>
                  <a:srgbClr val="1A5CA8"/>
                </a:solidFill>
                <a:latin typeface="Calibri"/>
                <a:hlinkClick r:id="rId3"/>
              </a:rPr>
              <a:t>NIHCM: Concentration of Health Care Spending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0" y="6537960"/>
            <a:ext cx="12191695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1B3A5C"/>
                </a:solidFill>
                <a:latin typeface="Calibri"/>
              </a:rPr>
              <a:t>UNITEDHEALTHGROUP</a:t>
            </a:r>
            <a:r>
              <a:rPr sz="700" b="1">
                <a:solidFill>
                  <a:srgbClr val="D26012"/>
                </a:solidFill>
                <a:latin typeface="Calibri"/>
              </a:rPr>
              <a:t>  (Optum)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65379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88"/>
                </a:solidFill>
                <a:latin typeface="Calibri"/>
              </a:defRPr>
            </a:pPr>
            <a:r>
              <a:t>© 2026 UnitedHealth Group Inc. All rights reserved.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888888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Overall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Build "AEGIS" — a unified early warning platform that predicts member cost risk AND provider performance risk, presented through a single Executive Dashboard for proactive decision-making.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303520" cy="45720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299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Member Risk Scoring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Predict which members will become high-cost claimants next quarter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Estimate expected spend per member with confidence intervals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Assign risk tiers: CRITICAL | HIGH | ELEVATED | WATCH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Provide SHAP-based explainability (top cost drivers per member)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Feed Care Management, Actuarial, and Stop-Loss teams weekly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303520" cy="45720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0299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Provider Risk Scoring  (PEPI)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Measure Administrative Yield: why similar care produces different paid costs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PEPI components: clean claim rate, denial rate, paid/allowed ratio, coding patterns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Member risk scores as input for case-mix adjusted peer comparison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Cluster providers into peer cohorts (geo, specialty, embeddings)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Feed Network Management, Contracting, and Value-Based teams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852160"/>
            <a:ext cx="11064240" cy="45720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87044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Both streams converge into a single Early Warning Intelligence Signal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0" y="6537960"/>
            <a:ext cx="12191695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1B3A5C"/>
                </a:solidFill>
                <a:latin typeface="Calibri"/>
              </a:rPr>
              <a:t>UNITEDHEALTHGROUP</a:t>
            </a:r>
            <a:r>
              <a:rPr sz="700" b="1">
                <a:solidFill>
                  <a:srgbClr val="D26012"/>
                </a:solidFill>
                <a:latin typeface="Calibri"/>
              </a:rPr>
              <a:t>  (Optum)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65379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88"/>
                </a:solidFill>
                <a:latin typeface="Calibri"/>
              </a:defRPr>
            </a:pPr>
            <a:r>
              <a:t>© 2026 UnitedHealth Group Inc. All rights reserved.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888888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Member Risk Scoring  —  Approach &amp;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Two-Stage ML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Stage 1: XGBoost Binary Classifier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  "Will this member become high-cost next quarter?"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  85 features across 6 categories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  Target: AUC-ROC &gt; 0.85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•  Stage 2: LightGBM Cost Regression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  "HOW MUCH will they cost?"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  Log-transformed target for skewed spend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     Confidence intervals per 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Risk Tier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00200"/>
            <a:ext cx="1371600" cy="384048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1848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61848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P: &gt; 0.70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161848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Top 0.5%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161848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Immediate CM outreach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039112"/>
            <a:ext cx="1371600" cy="384048"/>
          </a:xfrm>
          <a:prstGeom prst="roundRect">
            <a:avLst/>
          </a:prstGeom>
          <a:solidFill>
            <a:srgbClr val="D48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5740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05740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P: 0.50-0.70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0574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Top 1.5%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20574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Proactive care plan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478024"/>
            <a:ext cx="1371600" cy="384048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49631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ELEVATED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49631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P: 0.30-0.50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49631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Top 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249631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Monitor + targeted programs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916936"/>
            <a:ext cx="1371600" cy="384048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93522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WATCH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93522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P: 0.15-0.30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9352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Top 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293522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Quarterly reassessment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355848"/>
            <a:ext cx="1371600" cy="384048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37413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STANDARD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337413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P: &lt; 0.15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37413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~91%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337413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88"/>
                </a:solidFill>
                <a:latin typeface="Calibri"/>
              </a:defRPr>
            </a:pPr>
            <a:r>
              <a:t>Standard population health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389120"/>
            <a:ext cx="11064240" cy="54864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Scale &amp; Impact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029200"/>
            <a:ext cx="1691640" cy="109728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0749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A5C"/>
                </a:solidFill>
                <a:latin typeface="Calibri"/>
              </a:defRPr>
            </a:pPr>
            <a:r>
              <a:t>50M+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6235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Total Members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423160" y="5029200"/>
            <a:ext cx="1691640" cy="109728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23160" y="50749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A5C"/>
                </a:solidFill>
                <a:latin typeface="Calibri"/>
              </a:defRPr>
            </a:pPr>
            <a:r>
              <a:t>Top 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23160" y="56235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Drive ~28% of Spend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79" y="5029200"/>
            <a:ext cx="1691640" cy="109728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79" y="50749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A5C"/>
                </a:solidFill>
                <a:latin typeface="Calibri"/>
              </a:defRPr>
            </a:pPr>
            <a:r>
              <a:t>Top 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79" y="56235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Drive ~57% of Spend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72199" y="5029200"/>
            <a:ext cx="1691640" cy="109728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72199" y="50749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A5C"/>
                </a:solidFill>
                <a:latin typeface="Calibri"/>
              </a:defRPr>
            </a:pPr>
            <a:r>
              <a:t>85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72199" y="56235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ML Features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46719" y="5029200"/>
            <a:ext cx="1691640" cy="109728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19" y="50749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A5C"/>
                </a:solidFill>
                <a:latin typeface="Calibri"/>
              </a:defRPr>
            </a:pPr>
            <a:r>
              <a:t>90 days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19" y="56235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Prediction Horizon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921240" y="5029200"/>
            <a:ext cx="1691640" cy="109728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921240" y="507492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B3A5C"/>
                </a:solidFill>
                <a:latin typeface="Calibri"/>
              </a:defRPr>
            </a:pPr>
            <a:r>
              <a:t>4 Weeks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21240" y="56235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88"/>
                </a:solidFill>
                <a:latin typeface="Calibri"/>
              </a:defRPr>
            </a:pPr>
            <a:r>
              <a:t>MVP Timeline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0" y="6537960"/>
            <a:ext cx="12191695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1B3A5C"/>
                </a:solidFill>
                <a:latin typeface="Calibri"/>
              </a:rPr>
              <a:t>UNITEDHEALTHGROUP</a:t>
            </a:r>
            <a:r>
              <a:rPr sz="700" b="1">
                <a:solidFill>
                  <a:srgbClr val="D26012"/>
                </a:solidFill>
                <a:latin typeface="Calibri"/>
              </a:rPr>
              <a:t>  (Optum)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00400" y="65379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88"/>
                </a:solidFill>
                <a:latin typeface="Calibri"/>
              </a:defRPr>
            </a:pPr>
            <a:r>
              <a:t>© 2026 UnitedHealth Group Inc. All rights reserved.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888888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3A5C"/>
                </a:solidFill>
                <a:latin typeface="Calibri"/>
              </a:defRPr>
            </a:pPr>
            <a:r>
              <a:t>Provider Economic Performance Index  (PEPI)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Why do two providers delivering similar care to similar patients produce very different paid costs?</a:t>
            </a:r>
            <a:br/>
            <a:r>
              <a:t>PEPI is a structured measure of how providers convert care into paid dollars — the Administrative Yield.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08760"/>
            <a:ext cx="11247120" cy="45720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2704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5C"/>
                </a:solidFill>
                <a:latin typeface="Calibri"/>
              </a:defRPr>
            </a:pPr>
            <a:r>
              <a:t>Input:  Member Risk Scores (case-mix adjust)  →  Compare providers treating equally sick patients on a level playing field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148840"/>
            <a:ext cx="2743200" cy="45720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16712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Claims Efficiency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697480"/>
            <a:ext cx="2743200" cy="402336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2715768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3A5C"/>
                </a:solidFill>
                <a:latin typeface="Calibri"/>
              </a:defRPr>
            </a:pPr>
            <a:r>
              <a:t>Clean Claim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898648"/>
            <a:ext cx="2606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88"/>
                </a:solidFill>
                <a:latin typeface="Calibri"/>
              </a:defRPr>
            </a:pPr>
            <a:r>
              <a:t>% accepted on 1st submit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136392"/>
            <a:ext cx="2743200" cy="40233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315468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3A5C"/>
                </a:solidFill>
                <a:latin typeface="Calibri"/>
              </a:defRPr>
            </a:pPr>
            <a:r>
              <a:t>Denial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3337560"/>
            <a:ext cx="2606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88"/>
                </a:solidFill>
                <a:latin typeface="Calibri"/>
              </a:defRPr>
            </a:pPr>
            <a:r>
              <a:t>% denied by payer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575304"/>
            <a:ext cx="2743200" cy="402336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3593592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3A5C"/>
                </a:solidFill>
                <a:latin typeface="Calibri"/>
              </a:defRPr>
            </a:pPr>
            <a:r>
              <a:t>Denial Overturn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3776472"/>
            <a:ext cx="2606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88"/>
                </a:solidFill>
                <a:latin typeface="Calibri"/>
              </a:defRPr>
            </a:pPr>
            <a:r>
              <a:t>% of denials won on appeal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014216"/>
            <a:ext cx="2743200" cy="40233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4032504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3A5C"/>
                </a:solidFill>
                <a:latin typeface="Calibri"/>
              </a:defRPr>
            </a:pPr>
            <a:r>
              <a:t>Resubmission Freq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4215384"/>
            <a:ext cx="2606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88"/>
                </a:solidFill>
                <a:latin typeface="Calibri"/>
              </a:defRPr>
            </a:pPr>
            <a:r>
              <a:t>How often claims resubmitted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453128"/>
            <a:ext cx="2743200" cy="402336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4471416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3A5C"/>
                </a:solidFill>
                <a:latin typeface="Calibri"/>
              </a:defRPr>
            </a:pPr>
            <a:r>
              <a:t>Adjustment Counts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4654296"/>
            <a:ext cx="2606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88"/>
                </a:solidFill>
                <a:latin typeface="Calibri"/>
              </a:defRPr>
            </a:pPr>
            <a:r>
              <a:t>Post-payment adjustments/claim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46120" y="2148840"/>
            <a:ext cx="2743200" cy="45720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0" y="216712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Payment Dynamics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46120" y="2697480"/>
            <a:ext cx="2743200" cy="402336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19272" y="2715768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3A5C"/>
                </a:solidFill>
                <a:latin typeface="Calibri"/>
              </a:defRPr>
            </a:pPr>
            <a:r>
              <a:t>Paid / Allowed Ratio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9272" y="2898648"/>
            <a:ext cx="2606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88"/>
                </a:solidFill>
                <a:latin typeface="Calibri"/>
              </a:defRPr>
            </a:pPr>
            <a:r>
              <a:t>Actual paid vs allowed amount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46120" y="3136392"/>
            <a:ext cx="2743200" cy="40233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19272" y="315468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3A5C"/>
                </a:solidFill>
                <a:latin typeface="Calibri"/>
              </a:defRPr>
            </a:pPr>
            <a:r>
              <a:t>Paid per Unit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19272" y="3337560"/>
            <a:ext cx="2606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88"/>
                </a:solidFill>
                <a:latin typeface="Calibri"/>
              </a:defRPr>
            </a:pPr>
            <a:r>
              <a:t>Avg reimbursement per service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46120" y="3575304"/>
            <a:ext cx="2743200" cy="402336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19272" y="3593592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3A5C"/>
                </a:solidFill>
                <a:latin typeface="Calibri"/>
              </a:defRPr>
            </a:pPr>
            <a:r>
              <a:t>Days to Final Payment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19272" y="3776472"/>
            <a:ext cx="2606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88"/>
                </a:solidFill>
                <a:latin typeface="Calibri"/>
              </a:defRPr>
            </a:pPr>
            <a:r>
              <a:t>Submission to settlement time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2148840"/>
            <a:ext cx="2743200" cy="45720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216712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Billing Behavior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80" y="2697480"/>
            <a:ext cx="2743200" cy="402336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99632" y="2715768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3A5C"/>
                </a:solidFill>
                <a:latin typeface="Calibri"/>
              </a:defRPr>
            </a:pPr>
            <a:r>
              <a:t>Billing Predictability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9632" y="2898648"/>
            <a:ext cx="2606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88"/>
                </a:solidFill>
                <a:latin typeface="Calibri"/>
              </a:defRPr>
            </a:pPr>
            <a:r>
              <a:t>Variance in billing patterns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26480" y="3136392"/>
            <a:ext cx="2743200" cy="40233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99632" y="315468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3A5C"/>
                </a:solidFill>
                <a:latin typeface="Calibri"/>
              </a:defRPr>
            </a:pPr>
            <a:r>
              <a:t>Coding Practices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99632" y="3337560"/>
            <a:ext cx="2606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88"/>
                </a:solidFill>
                <a:latin typeface="Calibri"/>
              </a:defRPr>
            </a:pPr>
            <a:r>
              <a:t>Upcoding, modifier usage, E&amp;M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26480" y="3575304"/>
            <a:ext cx="2743200" cy="402336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9632" y="3593592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3A5C"/>
                </a:solidFill>
                <a:latin typeface="Calibri"/>
              </a:defRPr>
            </a:pPr>
            <a:r>
              <a:t>Service Expansion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99632" y="3776472"/>
            <a:ext cx="2606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88"/>
                </a:solidFill>
                <a:latin typeface="Calibri"/>
              </a:defRPr>
            </a:pPr>
            <a:r>
              <a:t>New CPTs, volume shifts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06840" y="2148840"/>
            <a:ext cx="2743200" cy="45720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52560" y="216712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External Signals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06840" y="2697480"/>
            <a:ext cx="2743200" cy="402336"/>
          </a:xfrm>
          <a:prstGeom prst="roundRect">
            <a:avLst/>
          </a:prstGeom>
          <a:solidFill>
            <a:srgbClr val="EB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79992" y="2715768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3A5C"/>
                </a:solidFill>
                <a:latin typeface="Calibri"/>
              </a:defRPr>
            </a:pPr>
            <a:r>
              <a:t>Market / News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79992" y="2898648"/>
            <a:ext cx="2606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88"/>
                </a:solidFill>
                <a:latin typeface="Calibri"/>
              </a:defRPr>
            </a:pPr>
            <a:r>
              <a:t>M&amp;A, ownership changes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006840" y="3136392"/>
            <a:ext cx="2743200" cy="40233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79992" y="315468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3A5C"/>
                </a:solidFill>
                <a:latin typeface="Calibri"/>
              </a:defRPr>
            </a:pPr>
            <a:r>
              <a:t>Regulatory Actions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79992" y="3337560"/>
            <a:ext cx="2606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88888"/>
                </a:solidFill>
                <a:latin typeface="Calibri"/>
              </a:defRPr>
            </a:pPr>
            <a:r>
              <a:t>Compliance flags, audits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4983480"/>
            <a:ext cx="11247120" cy="50292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500176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PEPI Score  =  Administrative Yield  →  Explains cost increase WITHOUT utilization growth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5623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Provider PEPI Tiers: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474720" y="5623560"/>
            <a:ext cx="1920240" cy="347472"/>
          </a:xfrm>
          <a:prstGeom prst="roundRect">
            <a:avLst/>
          </a:prstGeom>
          <a:solidFill>
            <a:srgbClr val="00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520440" y="5641848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TOP PERFORMER  (&gt; 80)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669279" y="5623560"/>
            <a:ext cx="1920240" cy="347472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14999" y="5641848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STANDARD  (60-80)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863840" y="5623560"/>
            <a:ext cx="1920240" cy="347472"/>
          </a:xfrm>
          <a:prstGeom prst="roundRect">
            <a:avLst/>
          </a:prstGeom>
          <a:solidFill>
            <a:srgbClr val="D48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09560" y="5641848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WATCH  (40-60)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058400" y="5623560"/>
            <a:ext cx="1920240" cy="347472"/>
          </a:xfrm>
          <a:prstGeom prst="round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104120" y="5641848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CONCERN  (&lt; 40)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57200" y="6080760"/>
            <a:ext cx="11247120" cy="36576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" y="6099048"/>
            <a:ext cx="10881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3A5C"/>
                </a:solidFill>
                <a:latin typeface="Calibri"/>
              </a:defRPr>
            </a:pPr>
            <a:r>
              <a:t>Peer Comparison:  Providers grouped by geo + specialty + case-mix (UMAP + HDBSCAN)  →  PEPI scored within peer cohort for fair ranking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0" y="6537960"/>
            <a:ext cx="12191695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1B3A5C"/>
                </a:solidFill>
                <a:latin typeface="Calibri"/>
              </a:rPr>
              <a:t>UNITEDHEALTHGROUP</a:t>
            </a:r>
            <a:r>
              <a:rPr sz="700" b="1">
                <a:solidFill>
                  <a:srgbClr val="D26012"/>
                </a:solidFill>
                <a:latin typeface="Calibri"/>
              </a:rPr>
              <a:t>  (Optum)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00400" y="65379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88"/>
                </a:solidFill>
                <a:latin typeface="Calibri"/>
              </a:defRPr>
            </a:pPr>
            <a:r>
              <a:t>© 2026 UnitedHealth Group Inc. All rights reserved.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888888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End-to-End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5486400" cy="3657600"/>
          </a:xfrm>
          <a:prstGeom prst="roundRect">
            <a:avLst/>
          </a:prstGeom>
          <a:solidFill>
            <a:srgbClr val="EBF1F8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5486400" cy="4114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MEMBER RISK SCORING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1143000" cy="6400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0992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Medical Claims</a:t>
            </a:r>
            <a:br/>
            <a:r>
              <a:t>837P/837I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1691640"/>
            <a:ext cx="1143000" cy="6400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170992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Call Center</a:t>
            </a:r>
            <a:br/>
            <a:r>
              <a:t>IVR/CRM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1691640"/>
            <a:ext cx="1143000" cy="6400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79" y="170992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Remittance</a:t>
            </a:r>
            <a:br/>
            <a:r>
              <a:t>835/EOB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19" y="1691640"/>
            <a:ext cx="1143000" cy="6400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70992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Enrollment</a:t>
            </a:r>
            <a:br/>
            <a:r>
              <a:t>834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560320"/>
            <a:ext cx="2103120" cy="411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5786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ETL → Feature Store (85)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2560320"/>
            <a:ext cx="2560320" cy="41148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63240" y="25786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XGBoost → LightGBM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3291840"/>
            <a:ext cx="3474720" cy="5943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31012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Member Risk Score Table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097280"/>
            <a:ext cx="5486400" cy="3657600"/>
          </a:xfrm>
          <a:prstGeom prst="roundRect">
            <a:avLst/>
          </a:prstGeom>
          <a:solidFill>
            <a:srgbClr val="F5F5F0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09360" y="1097280"/>
            <a:ext cx="5486400" cy="41148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1155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PROVIDER RISK SCORING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1691640"/>
            <a:ext cx="1143000" cy="6400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170992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Provider NPI</a:t>
            </a:r>
            <a:br/>
            <a:r>
              <a:t>NPPES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1691640"/>
            <a:ext cx="1143000" cy="6400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20" y="170992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Claims per</a:t>
            </a:r>
            <a:br/>
            <a:r>
              <a:t>Provider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59" y="1691640"/>
            <a:ext cx="1143000" cy="6400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98280" y="170992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New Drug</a:t>
            </a:r>
            <a:br/>
            <a:r>
              <a:t>Formulary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32719" y="1691640"/>
            <a:ext cx="1143000" cy="6400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78440" y="1709928"/>
            <a:ext cx="1051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External</a:t>
            </a:r>
            <a:br/>
            <a:r>
              <a:t>Geo/Market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2560320"/>
            <a:ext cx="2103120" cy="411480"/>
          </a:xfrm>
          <a:prstGeom prst="round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25786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Clustering + Indices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20" y="2560320"/>
            <a:ext cx="2560320" cy="41148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40" y="257860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Econ Perf + Admin Idx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0" y="3291840"/>
            <a:ext cx="3474720" cy="59436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60920" y="331012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Provider Risk Score Table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3017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26012"/>
                </a:solidFill>
                <a:latin typeface="Calibri"/>
              </a:defRPr>
            </a:pPr>
            <a:r>
              <a:t>+ Member Scores 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286000" y="5120640"/>
            <a:ext cx="7589520" cy="5943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31720" y="5138928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Early Warning Intelligence Signal Dashboard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6035040"/>
            <a:ext cx="1463040" cy="5029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053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Care Mgmt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103120" y="6035040"/>
            <a:ext cx="1463040" cy="5029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48840" y="6053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Actuarial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749039" y="6035040"/>
            <a:ext cx="1463040" cy="5029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94760" y="6053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Stop-Loss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394960" y="6035040"/>
            <a:ext cx="1463040" cy="5029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40680" y="6053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Provider</a:t>
            </a:r>
            <a:br/>
            <a:r>
              <a:t>Network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40880" y="6035040"/>
            <a:ext cx="1463040" cy="5029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86600" y="6053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Executive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86800" y="6035040"/>
            <a:ext cx="1463040" cy="5029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32520" y="6053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Underwriting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332720" y="6035040"/>
            <a:ext cx="1463040" cy="50292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78440" y="6053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Contracting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0" y="6537960"/>
            <a:ext cx="12191695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1B3A5C"/>
                </a:solidFill>
                <a:latin typeface="Calibri"/>
              </a:rPr>
              <a:t>UNITEDHEALTHGROUP</a:t>
            </a:r>
            <a:r>
              <a:rPr sz="700" b="1">
                <a:solidFill>
                  <a:srgbClr val="D26012"/>
                </a:solidFill>
                <a:latin typeface="Calibri"/>
              </a:rPr>
              <a:t>  (Optum)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00400" y="65379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88"/>
                </a:solidFill>
                <a:latin typeface="Calibri"/>
              </a:defRPr>
            </a:pPr>
            <a:r>
              <a:t>© 2026 UnitedHealth Group Inc. All rights reserved.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888888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Timeline &amp;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64240" cy="54864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54480" y="1051560"/>
            <a:ext cx="182880" cy="32004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26012"/>
                </a:solidFill>
                <a:latin typeface="Calibri"/>
              </a:defRPr>
            </a:pPr>
            <a:r>
              <a:t>MVP 1</a:t>
            </a:r>
            <a:br/>
            <a:r>
              <a:t>Mar 1,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2560320" cy="77724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0428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Member Scoring</a:t>
            </a:r>
            <a:br/>
            <a:r>
              <a:t>10% of Members</a:t>
            </a:r>
            <a:br/>
            <a:r>
              <a:t>(~5M members)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54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Calibri"/>
              </a:defRPr>
            </a:pPr>
            <a:r>
              <a:t>4 weeks</a:t>
            </a:r>
            <a:br/>
            <a:r>
              <a:t>Feb 3 - Mar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7472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Extract 24mo claims + enrollment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Build 85-feature matrix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Train XGBoost + LightGBM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SHAP explainability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Risk tier assignment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Dashboard v1 (member view)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051560"/>
            <a:ext cx="182880" cy="32004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417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3A5C"/>
                </a:solidFill>
                <a:latin typeface="Calibri"/>
              </a:defRPr>
            </a:pPr>
            <a:r>
              <a:t>MVP 2</a:t>
            </a:r>
            <a:br/>
            <a:r>
              <a:t>Apr 1,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2286000"/>
            <a:ext cx="2560320" cy="77724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30428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Member Scoring</a:t>
            </a:r>
            <a:br/>
            <a:r>
              <a:t>100% Scale-Up</a:t>
            </a:r>
            <a:br/>
            <a:r>
              <a:t>(50M members)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154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Calibri"/>
              </a:defRPr>
            </a:pPr>
            <a:r>
              <a:t>4 weeks</a:t>
            </a:r>
            <a:br/>
            <a:r>
              <a:t>Mar 2 - Apr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47472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Scale pipeline to full population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Add SDOH features (5 free sources)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Fairness audit + calibration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Weekly CM feed automation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Actuarial / stop-loss integration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Production monitoring (PSI)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051560"/>
            <a:ext cx="182880" cy="32004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417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F5496"/>
                </a:solidFill>
                <a:latin typeface="Calibri"/>
              </a:defRPr>
            </a:pPr>
            <a:r>
              <a:t>MVP 3</a:t>
            </a:r>
            <a:br/>
            <a:r>
              <a:t>May 1,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286000"/>
            <a:ext cx="2560320" cy="77724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30428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Provider Scoring</a:t>
            </a:r>
            <a:br/>
            <a:r>
              <a:t>All 1.2M Providers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154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Calibri"/>
              </a:defRPr>
            </a:pPr>
            <a:r>
              <a:t>4 weeks</a:t>
            </a:r>
            <a:br/>
            <a:r>
              <a:t>Apr 2 - May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47472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Provider clustering (embeddings)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Admin/Coding Maturity Index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Economic Performance Index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Cross-link member scores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Provider risk tiers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Dashboard v2 (member + provider)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95560" y="1051560"/>
            <a:ext cx="182880" cy="32004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141732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75B6"/>
                </a:solidFill>
                <a:latin typeface="Calibri"/>
              </a:defRPr>
            </a:pPr>
            <a:r>
              <a:t>Full Platform</a:t>
            </a:r>
            <a:br/>
            <a:r>
              <a:t>Jun 1, 2026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9720" y="2286000"/>
            <a:ext cx="2560320" cy="77724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230428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Combined Dashboard</a:t>
            </a:r>
            <a:br/>
            <a:r>
              <a:t>+ VBC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154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Calibri"/>
              </a:defRPr>
            </a:pPr>
            <a:r>
              <a:t>4 weeks</a:t>
            </a:r>
            <a:br/>
            <a:r>
              <a:t>May 2 - Jun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347472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VBC contract integration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Provider outreach automation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Real-time scoring API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User training + rollout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Phase 2 roadmap kickoff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Calibri"/>
              </a:defRPr>
            </a:pPr>
            <a:r>
              <a:t>• A/B testing framework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0" y="6537960"/>
            <a:ext cx="12191695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1B3A5C"/>
                </a:solidFill>
                <a:latin typeface="Calibri"/>
              </a:rPr>
              <a:t>UNITEDHEALTHGROUP</a:t>
            </a:r>
            <a:r>
              <a:rPr sz="700" b="1">
                <a:solidFill>
                  <a:srgbClr val="D26012"/>
                </a:solidFill>
                <a:latin typeface="Calibri"/>
              </a:rPr>
              <a:t>  (Optum)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65379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88"/>
                </a:solidFill>
                <a:latin typeface="Calibri"/>
              </a:defRPr>
            </a:pPr>
            <a:r>
              <a:t>© 2026 UnitedHealth Group Inc. All rights reserved.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888888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Expected Operational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AEGIS directly addresses the three drivers cited in UHC earnings releases: elevated medical cost trends, hospital coding intensity, and actuarial pricing gaps.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566160" cy="59436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7276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MCR Improvement</a:t>
            </a:r>
            <a:br/>
            <a:r>
              <a:t>Levers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860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Identify high-cost members 90 days before cost spikes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Enable proactive Care Management intervention before claims incur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Shift actuarial pricing from 12-month backward to 90-day forward view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Improve IBNR reserve accuracy with member-level predictions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Reduce stop-loss mispricing via better tail-risk visibility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554480"/>
            <a:ext cx="3566160" cy="594360"/>
          </a:xfrm>
          <a:prstGeom prst="round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57276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Operational</a:t>
            </a:r>
            <a:br/>
            <a:r>
              <a:t>Efficiency Gains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2860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Automate weekly risk-scored member lists to Care Management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Replace manual provider performance reports with real-time indices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Unify siloed signals (claims, Rx, SDOH) into one predictive score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Enable data-driven provider contracting and VBC negotiations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Reduce time-to-insight from months to days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554480"/>
            <a:ext cx="3566160" cy="59436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72768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Strategic</a:t>
            </a:r>
            <a:br/>
            <a:r>
              <a:t>Advantage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2860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First-mover predictive platform across 50M+ members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PEPI (Administrative Yield) creates leverage for network negotiations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SHAP explainability builds regulator and clinician trust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Scalable framework: add new use cases (readmission, Rx adherence)</a:t>
            </a:r>
          </a:p>
          <a:p>
            <a:pPr>
              <a:spcAft>
                <a:spcPts val="500"/>
              </a:spcAft>
              <a:defRPr sz="1100">
                <a:solidFill>
                  <a:srgbClr val="333333"/>
                </a:solidFill>
                <a:latin typeface="Calibri"/>
              </a:defRPr>
            </a:pPr>
            <a:r>
              <a:t>•  Positions UHC to meet 2026 MCR guidance of 88.8%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486400"/>
            <a:ext cx="11247120" cy="73152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5321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The Benchmark:  Every 100 basis points of MCR improvement directly restores operating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5216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6E4F0"/>
                </a:solidFill>
                <a:latin typeface="Calibri"/>
              </a:defRPr>
            </a:pPr>
            <a:r>
              <a:t>UHC went from 5.2% to 2.7% operating margin in one year.  Predictive signals are the fastest path to reverse that trend.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0" y="6537960"/>
            <a:ext cx="12191695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1B3A5C"/>
                </a:solidFill>
                <a:latin typeface="Calibri"/>
              </a:rPr>
              <a:t>UNITEDHEALTHGROUP</a:t>
            </a:r>
            <a:r>
              <a:rPr sz="700" b="1">
                <a:solidFill>
                  <a:srgbClr val="D26012"/>
                </a:solidFill>
                <a:latin typeface="Calibri"/>
              </a:rPr>
              <a:t>  (Optum)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65379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88"/>
                </a:solidFill>
                <a:latin typeface="Calibri"/>
              </a:defRPr>
            </a:pPr>
            <a:r>
              <a:t>© 2026 UnitedHealth Group Inc. All rights reserved.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888888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C"/>
                </a:solidFill>
                <a:latin typeface="Calibri"/>
              </a:defRPr>
            </a:pPr>
            <a:r>
              <a:t>Ask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48640" cy="10972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Approve MVP 1 Sprint Start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1508760"/>
            <a:ext cx="1371600" cy="27432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152704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Feb 3,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Green-light the 4-week sprint to build Member Risk Scoring on 10% of the member population. Deliver scored risk list to Care Management by March 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23160"/>
            <a:ext cx="548640" cy="10972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468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Data Access Authorization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0" y="2834640"/>
            <a:ext cx="1371600" cy="27432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285292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Immediate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154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Grant analytics team access to 24 months of claims (837P/I), enrollment (834), and remittance (835) data in the analytics environment.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49039"/>
            <a:ext cx="548640" cy="10972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93191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79475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Stakeholder Alignment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80160" y="4160519"/>
            <a:ext cx="1371600" cy="27432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4178807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Week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48055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Schedule 30-min sessions with Care Management, Actuarial, and Network leads to align on risk tier thresholds and dashboard requirements.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074920"/>
            <a:ext cx="548640" cy="1097280"/>
          </a:xfrm>
          <a:prstGeom prst="round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2578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Fund Full Platform Build-Out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80160" y="5486400"/>
            <a:ext cx="1371600" cy="274320"/>
          </a:xfrm>
          <a:prstGeom prst="roundRect">
            <a:avLst/>
          </a:prstGeom>
          <a:solidFill>
            <a:srgbClr val="D26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550468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By Apr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806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Based on MVP 1 results, approve Year 1 budget for full AEGIS platform: member + provider scoring, dashboard, production pipeline, and team allocation.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0" y="6537960"/>
            <a:ext cx="12191695" cy="320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379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1B3A5C"/>
                </a:solidFill>
                <a:latin typeface="Calibri"/>
              </a:rPr>
              <a:t>UNITEDHEALTHGROUP</a:t>
            </a:r>
            <a:r>
              <a:rPr sz="700" b="1">
                <a:solidFill>
                  <a:srgbClr val="D26012"/>
                </a:solidFill>
                <a:latin typeface="Calibri"/>
              </a:rPr>
              <a:t>  (Optum)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65379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88888"/>
                </a:solidFill>
                <a:latin typeface="Calibri"/>
              </a:defRPr>
            </a:pPr>
            <a:r>
              <a:t>© 2026 UnitedHealth Group Inc. All rights reserved.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>
                <a:solidFill>
                  <a:srgbClr val="888888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