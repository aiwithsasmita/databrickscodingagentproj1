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5303520"/>
            <a:ext cx="12191695" cy="54864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AEGIS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D6E4F0"/>
                </a:solidFill>
                <a:latin typeface="Calibri"/>
              </a:defRPr>
            </a:pPr>
            <a:r>
              <a:t>Advanced Early Warning Signal Intelligent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Member Risk Scoring  &amp;  Provider Risk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Executive Briefing  |  VP &amp; CFO Review  |  February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UnitedHealth Group  |  Data Science &amp;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3A5C"/>
                </a:solidFill>
                <a:latin typeface="Calibri"/>
              </a:defRPr>
            </a:pPr>
            <a:r>
              <a:t>Why Now?  The Medical Cost Crisis Is Accelerating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"The full year 2025 adjusted medical care ratio was 88.9% compared to 85.5% in 2024 ... CMS Medicare funding reductions</a:t>
            </a:r>
            <a:br/>
            <a:r>
              <a:t>and changes from the Inflation Reduction Act combined with accelerating medical cost trends."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7799"/>
                </a:solidFill>
                <a:latin typeface="Calibri"/>
              </a:defRPr>
            </a:pPr>
            <a:r>
              <a:t>Source: UNH Q4 2025 Earnings Release, Jan 27, 2026  |  unitedhealthgroup.com/investors/financial-reports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Medical Care Ratio  (Annual)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25250"/>
            <a:ext cx="1005840" cy="1086829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0521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83.2%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3A5C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3644537"/>
            <a:ext cx="1005840" cy="1567542"/>
          </a:xfrm>
          <a:prstGeom prst="roundRect">
            <a:avLst/>
          </a:prstGeom>
          <a:solidFill>
            <a:srgbClr val="D4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3324497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8B2D"/>
                </a:solidFill>
                <a:latin typeface="Calibri"/>
              </a:defRPr>
            </a:pPr>
            <a:r>
              <a:t>85.5%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5257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3A5C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892116"/>
            <a:ext cx="1005840" cy="2319963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5720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  <a:latin typeface="Calibri"/>
              </a:defRPr>
            </a:pPr>
            <a:r>
              <a:t>89.1%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257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3A5C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2954818"/>
            <a:ext cx="1005840" cy="2257261"/>
          </a:xfrm>
          <a:prstGeom prst="roundRect">
            <a:avLst/>
          </a:prstGeom>
          <a:noFill/>
          <a:ln w="254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63477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472C4"/>
                </a:solidFill>
                <a:latin typeface="Calibri"/>
              </a:defRPr>
            </a:pPr>
            <a:r>
              <a:t>88.8%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5257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3A5C"/>
                </a:solidFill>
                <a:latin typeface="Calibri"/>
              </a:defRPr>
            </a:pPr>
            <a:r>
              <a:t>2026E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103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48B2D"/>
                </a:solidFill>
                <a:latin typeface="Calibri"/>
              </a:defRPr>
            </a:pPr>
            <a:r>
              <a:t>+2.3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1965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Calibri"/>
              </a:defRPr>
            </a:pPr>
            <a:r>
              <a:t>+3.6 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What The Earnings Reports Reveal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194560"/>
            <a:ext cx="1463040" cy="12344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2860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360 bps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788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MCR Deterioration</a:t>
            </a:r>
            <a:br/>
            <a:r>
              <a:t>in Just 2 Years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24028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"The full year 2025 adjusted medical care ratio was 88.9% compared to 85.5% in 2024." Medical costs grew faster than premium revenue -- the pricing gap widened every quarter.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611880"/>
            <a:ext cx="1463040" cy="1234440"/>
          </a:xfrm>
          <a:prstGeom prst="roundRect">
            <a:avLst/>
          </a:prstGeom>
          <a:solidFill>
            <a:srgbClr val="D4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7033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2062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Operating Margin</a:t>
            </a:r>
            <a:br/>
            <a:r>
              <a:t>Down from 5.2%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65760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"Operating margin of 2.7% compared to 5.2% in 2024, primarily due to Biden-era Medicare funding reductions and Inflation Reduction Act impacts combined with elevated medical cost trends."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5029200"/>
            <a:ext cx="1463040" cy="123444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51206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92.4%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6235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Q4 2025 MCR</a:t>
            </a:r>
            <a:br/>
            <a:r>
              <a:t>Highest in a Decade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507492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UNH took a restructuring charge in Q4 and restructured leadership. "The company laid the foundation for more disciplined and transparent operations, stronger performance and sustained growth."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57799"/>
                </a:solidFill>
                <a:latin typeface="Calibri"/>
              </a:defRPr>
            </a:pPr>
            <a:r>
              <a:t>Sources:  [1] UNH 2025 Annual Earnings Release (Jan 27, 2026) - businesswire.com/news/home/20260126830491</a:t>
            </a:r>
            <a:br/>
            <a:r>
              <a:t>[2] UNH Q4 2024 Earnings Release (Jan 16, 2025) - unitedhealthgroup.com/investors  |  [3] Becker's Payer Issues, Jan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3A5C"/>
                </a:solidFill>
                <a:latin typeface="Calibri"/>
              </a:defRPr>
            </a:pPr>
            <a:r>
              <a:t>The Pricing Gap  —  Why Actuaries Need Early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Premiums are priced using backward-looking assumptions. When medical cost trends accelerate faster than pricing can adjust, the gap widens every quarter.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Quarterly MCR Trajectory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463040" cy="3657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92807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Quarter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874519"/>
            <a:ext cx="1463040" cy="3657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892807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2024 MCR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74519"/>
            <a:ext cx="1463040" cy="3657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892807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2025 MCR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874519"/>
            <a:ext cx="1645920" cy="3657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892807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YoY Gap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258567"/>
            <a:ext cx="146304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267711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2258567"/>
            <a:ext cx="146304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2267711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84.3%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2258567"/>
            <a:ext cx="146304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2267711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84.8%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2258567"/>
            <a:ext cx="164592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2267711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+0.5 pts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606039"/>
            <a:ext cx="146304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615183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03120" y="2606039"/>
            <a:ext cx="146304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8840" y="2615183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85.1%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2606039"/>
            <a:ext cx="146304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2615183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89.4%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0" y="2606039"/>
            <a:ext cx="164592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2615183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392B"/>
                </a:solidFill>
                <a:latin typeface="Calibri"/>
              </a:defRPr>
            </a:pPr>
            <a:r>
              <a:t>+4.3 pts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953511"/>
            <a:ext cx="146304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2962655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03120" y="2953511"/>
            <a:ext cx="146304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40" y="2962655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85.2%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0" y="2953511"/>
            <a:ext cx="146304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2962655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89.9%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12080" y="2953511"/>
            <a:ext cx="164592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2962655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392B"/>
                </a:solidFill>
                <a:latin typeface="Calibri"/>
              </a:defRPr>
            </a:pPr>
            <a:r>
              <a:t>+4.7 pts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300983"/>
            <a:ext cx="146304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310127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03120" y="3300983"/>
            <a:ext cx="146304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48840" y="3310127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~87.6%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0" y="3300983"/>
            <a:ext cx="146304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03320" y="3310127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92.4%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12080" y="3300983"/>
            <a:ext cx="164592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57800" y="3310127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392B"/>
                </a:solidFill>
                <a:latin typeface="Calibri"/>
              </a:defRPr>
            </a:pPr>
            <a:r>
              <a:t>+4.8 pts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3648455"/>
            <a:ext cx="1463040" cy="329184"/>
          </a:xfrm>
          <a:prstGeom prst="roundRect">
            <a:avLst/>
          </a:prstGeom>
          <a:solidFill>
            <a:srgbClr val="E8D5C4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3657599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Full Year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03120" y="3648455"/>
            <a:ext cx="1463040" cy="329184"/>
          </a:xfrm>
          <a:prstGeom prst="roundRect">
            <a:avLst/>
          </a:prstGeom>
          <a:solidFill>
            <a:srgbClr val="E8D5C4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48840" y="3657599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85.5%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0" y="3648455"/>
            <a:ext cx="1463040" cy="329184"/>
          </a:xfrm>
          <a:prstGeom prst="roundRect">
            <a:avLst/>
          </a:prstGeom>
          <a:solidFill>
            <a:srgbClr val="E8D5C4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03320" y="3657599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89.1%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212080" y="3648455"/>
            <a:ext cx="1645920" cy="329184"/>
          </a:xfrm>
          <a:prstGeom prst="roundRect">
            <a:avLst/>
          </a:prstGeom>
          <a:solidFill>
            <a:srgbClr val="E8D5C4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57800" y="3657599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+3.6 pts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The Accelerating Gap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12480" y="1874519"/>
            <a:ext cx="137160" cy="8686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0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Q1 2025: Manageable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21488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Still within actuarial tolerance. Pricing adjustments proceeding normally.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412480" y="2926079"/>
            <a:ext cx="137160" cy="868680"/>
          </a:xfrm>
          <a:prstGeom prst="roundRect">
            <a:avLst/>
          </a:prstGeom>
          <a:solidFill>
            <a:srgbClr val="D4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0" y="292607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8B2D"/>
                </a:solidFill>
                <a:latin typeface="Calibri"/>
              </a:defRPr>
            </a:pPr>
            <a:r>
              <a:t>Q2 2025: Warning Signs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320039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Specialty Rx costs spiked. Hospital coding intensity increased. IRA Part D changes hit.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412480" y="3977639"/>
            <a:ext cx="137160" cy="8686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86800" y="39776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Q3 2025: Crisis Level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425195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Medical trend outpacing pricing. UNH raised earnings outlook but MCR kept climbing quarter after quarter.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412480" y="5029200"/>
            <a:ext cx="137160" cy="868680"/>
          </a:xfrm>
          <a:prstGeom prst="round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86800" y="5029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0000"/>
                </a:solidFill>
                <a:latin typeface="Calibri"/>
              </a:defRPr>
            </a:pPr>
            <a:r>
              <a:t>Q4 2025: Emergency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0" y="53035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MCR hit 92.4%. Restructuring charge taken. Company restructured leadership and operations.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4754880"/>
            <a:ext cx="11247120" cy="146304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 CORE OBJECTIVE:  Predict Member-Level Medical Spend Before Actuaries Set Prices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6E4F0"/>
                </a:solidFill>
                <a:latin typeface="Calibri"/>
              </a:defRPr>
            </a:pPr>
            <a:r>
              <a:t>▸  If we can predict which members will become high-cost NEXT QUARTER, actuaries can price premiums with 90-day forward visibility instead of 12-month backward assumptions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" y="566927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6E4F0"/>
                </a:solidFill>
                <a:latin typeface="Calibri"/>
              </a:defRPr>
            </a:pPr>
            <a:r>
              <a:t>▸  Every 100 basis points of MCR improvement directly recovers operating margin -- the difference between 2.7% and 5.2% margin that UHC lost in one year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6E4F0"/>
                </a:solidFill>
                <a:latin typeface="Calibri"/>
              </a:defRPr>
            </a:pPr>
            <a:r>
              <a:t>▸  Early signals feed three critical functions:  (1) Care Management for intervention  (2) Actuarial for pricing accuracy  (3) Stop-Loss for reserve adequacy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57799"/>
                </a:solidFill>
                <a:latin typeface="Calibri"/>
              </a:defRPr>
            </a:pPr>
            <a:r>
              <a:t>Sources:  UNH Q1-Q4 2025 Earnings Releases - unitedhealthgroup.com/investors  |  FierceHealthcare: "UHC expects to lose 1.3M MA members" Jan 2026</a:t>
            </a:r>
            <a:br/>
            <a:r>
              <a:t>Norwood: "UHC's MLR an eye-opening reminder of V28 impact" - norwood.com  |  Becker's Payer Issues  |  SEC filings: 10-K, 10-Q (2024-2025)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Three Compounding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The MLR crisis is a symptom. These are the root causes we can address with data science.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438912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High-Cost Claimant</a:t>
            </a:r>
            <a:br/>
            <a:r>
              <a:t>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2.2% of members generate 23% of total medical spend. These members ARE identifiable 90 days before cost spikes, but we have no systematic prediction engine.</a:t>
            </a:r>
            <a:br/>
            <a:br/>
            <a:r>
              <a:t>With 89.1% MCR, every avoidable high-cost event directly erodes operating margin.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937760"/>
            <a:ext cx="3200400" cy="8229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983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2.2% of members = 23% of spend</a:t>
            </a:r>
            <a:br/>
            <a:r>
              <a:t>Predictable 90 days early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3474720" cy="438912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Actuarial Pricing</a:t>
            </a:r>
            <a:br/>
            <a:r>
              <a:t>Blind Spot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3317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Premiums are set using population-level historical trends. But medical costs accelerated faster than pricing could adjust -- MCR jumped 360 bps in 2 years.</a:t>
            </a:r>
            <a:br/>
            <a:br/>
            <a:r>
              <a:t>Member-level spend prediction gives Actuarial a 90-day forward view to price with, not a 12-month backward mirror.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39" y="4937760"/>
            <a:ext cx="3200400" cy="8229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79" y="4983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MCR went from 83.2% to 89.1%</a:t>
            </a:r>
            <a:br/>
            <a:r>
              <a:t>Pricing could not keep 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554480"/>
            <a:ext cx="3474720" cy="438912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No Unified</a:t>
            </a:r>
            <a:br/>
            <a:r>
              <a:t>Early Warning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23317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Care Management, Actuarial, Stop-Loss, and Network teams all react AFTER costs are incurred. No shared predictive signal connects them.</a:t>
            </a:r>
            <a:br/>
            <a:br/>
            <a:r>
              <a:t>Q4 2025 MCR hit 92.4% -- proving that by the time lagging indicators catch up, the damage is done.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4937760"/>
            <a:ext cx="3200400" cy="8229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4983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Q4 2025 MCR: 92.4%</a:t>
            </a:r>
            <a:br/>
            <a:r>
              <a:t>Reactive = too 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Overall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Build "AEGIS" — a unified early warning platform that predicts member cost risk AND provider performance risk, presented through a single Executive Dashboard for proactive decision-making.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4572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299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Member Risk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Predict which members will become high-cost claimants next quarter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Estimate expected spend per member with confidence intervals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Assign risk tiers: CRITICAL | HIGH | ELEVATED | WATCH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Provide SHAP-based explainability (top cost drivers per member)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Feed Care Management, Actuarial, and Stop-Loss teams weekly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45720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0299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Provider Risk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Cluster providers by geo, specialty, and practice embeddings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Compute Economic Performance Index (denial ratio, 1st-pass rate, cost efficiency)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Compute Administrative / Coding Maturity Index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Link member risk scores to provider panels (cross-input)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Feed Network Management, Contracting, and Value-Based teams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852160"/>
            <a:ext cx="11064240" cy="45720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8704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Both streams converge into a single Early Warning Intelligence Signal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Member Risk Scoring  —  Approach &amp;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Two-Stage ML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Stage 1: XGBoost Binary Classifier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"Will this member become high-cost next quarter?"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85 features across 6 categories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Target: AUC-ROC &gt; 0.85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Stage 2: LightGBM Cost Regression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"HOW MUCH will they cost?"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Log-transformed target for skewed spend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Confidence intervals per 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Risk Tier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00200"/>
            <a:ext cx="1371600" cy="384048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1848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61848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&gt; 0.70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6184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Top 0.5%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6184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Immediate CM outreach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39112"/>
            <a:ext cx="1371600" cy="384048"/>
          </a:xfrm>
          <a:prstGeom prst="roundRect">
            <a:avLst/>
          </a:prstGeom>
          <a:solidFill>
            <a:srgbClr val="D4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0574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0.50-0.70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0574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Top 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20574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Proactive care plan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478024"/>
            <a:ext cx="1371600" cy="384048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4963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ELEVATED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4963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0.30-0.50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4963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Top 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24963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Monitor + targeted programs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916936"/>
            <a:ext cx="1371600" cy="38404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9352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9352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0.15-0.30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9352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Top 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9352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Quarterly reassessment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355848"/>
            <a:ext cx="1371600" cy="384048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37413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37413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&lt; 0.15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3741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~91%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33741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Standard population health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389120"/>
            <a:ext cx="11064240" cy="54864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Scale &amp; Impact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50M+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Total Members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23160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23160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2.2%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High-Cost Concentration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79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79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23%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79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of Spend from Top 2.2%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199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199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85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199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ML Features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19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19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90 days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19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Prediction Horizon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21240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21240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4 Weeks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21240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MVP Timeline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Provider Risk Scoring  —  Approach &amp; Indices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566160" cy="5943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Provider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Group 1.2M+ providers into peer cohorts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Features: geo (lat/lon), specialty, payer mix, case mix, volume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Method: UMAP + HDBSCAN embeddings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Output: Peer groups for fair comparison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Example: Urban Cardiologists, Rural PCPs, Academic Oncologists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566160" cy="59436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1155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Admin / Coding</a:t>
            </a:r>
            <a:br/>
            <a:r>
              <a:t>Maturity 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8288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First-Pass Claim Rate (30% weight)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Denial Rate inverse (25% weight)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Coding Specificity Score (20% weight)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Avg Days to Submit inverse (15% weight)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Rework Rate inverse (10% weight)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Output: 0-100 composite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566160" cy="59436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1155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Economic</a:t>
            </a:r>
            <a:br/>
            <a:r>
              <a:t>Performance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Risk-Adjusted Cost Index / O:E (35%)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First-Pass Rate (15%)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Denial Rate inverse (15%)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Network Leakage inverse (10%)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Readmission Rate inverse (10%)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Cost Trend inverse (10%)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Total Cost of Care PMPY (5%)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120640"/>
            <a:ext cx="11247120" cy="50292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1389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3A5C"/>
                </a:solidFill>
                <a:latin typeface="Calibri"/>
              </a:defRPr>
            </a:pPr>
            <a:r>
              <a:t>Cross-Input:  Member Risk Scores flow INTO Provider Scoring  →  % of panel flagged CRITICAL/HIGH + avg member risk score per provider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Provider Risk Tiers: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5760720"/>
            <a:ext cx="1920240" cy="384048"/>
          </a:xfrm>
          <a:prstGeom prst="roundRect">
            <a:avLst/>
          </a:prstGeom>
          <a:solidFill>
            <a:srgbClr val="00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5779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TOP PERFORMER  (&gt; 80)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79" y="5760720"/>
            <a:ext cx="1920240" cy="384048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4999" y="5779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STANDARD  (60-80)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5760720"/>
            <a:ext cx="1920240" cy="384048"/>
          </a:xfrm>
          <a:prstGeom prst="roundRect">
            <a:avLst/>
          </a:prstGeom>
          <a:solidFill>
            <a:srgbClr val="D4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5779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WATCH  (40-60)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5760720"/>
            <a:ext cx="1920240" cy="384048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20" y="5779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CONCERN  (&lt; 40)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End-to-End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486400" cy="365760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486400" cy="4114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MEMBER RISK SCORING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Medical Claims</a:t>
            </a:r>
            <a:br/>
            <a:r>
              <a:t>837P/837I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Call Center</a:t>
            </a:r>
            <a:br/>
            <a:r>
              <a:t>IVR/CRM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79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Remittance</a:t>
            </a:r>
            <a:br/>
            <a:r>
              <a:t>835/EOB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19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Enrollment</a:t>
            </a:r>
            <a:br/>
            <a:r>
              <a:t>834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560320"/>
            <a:ext cx="2103120" cy="411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5786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ETL → Feature Store (85)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2560320"/>
            <a:ext cx="2560320" cy="41148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2578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XGBoost → LightGBM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291840"/>
            <a:ext cx="3474720" cy="5943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31012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Member Risk Score Table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097280"/>
            <a:ext cx="5486400" cy="3657600"/>
          </a:xfrm>
          <a:prstGeom prst="roundRect">
            <a:avLst/>
          </a:prstGeom>
          <a:solidFill>
            <a:srgbClr val="F5F5F0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1097280"/>
            <a:ext cx="5486400" cy="41148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1155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PROVIDER RISK SCORING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Provider NPI</a:t>
            </a:r>
            <a:br/>
            <a:r>
              <a:t>NPPES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Claims per</a:t>
            </a:r>
            <a:br/>
            <a:r>
              <a:t>Provider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59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New Drug</a:t>
            </a:r>
            <a:br/>
            <a:r>
              <a:t>Formulary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19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External</a:t>
            </a:r>
            <a:br/>
            <a:r>
              <a:t>Geo/Market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2560320"/>
            <a:ext cx="2103120" cy="411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25786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Clustering + Indices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2560320"/>
            <a:ext cx="2560320" cy="41148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578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Econ Perf + Admin Idx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3291840"/>
            <a:ext cx="3474720" cy="59436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20" y="331012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Provider Risk Score Table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3017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26012"/>
                </a:solidFill>
                <a:latin typeface="Calibri"/>
              </a:defRPr>
            </a:pPr>
            <a:r>
              <a:t>+ Member Scores 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0" y="5120640"/>
            <a:ext cx="7589520" cy="5943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31720" y="513892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Early Warning Intelligence Signal Dashboard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Care Mgmt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0312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4884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Actuarial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49039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9476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Stop-Loss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9496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4068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Provider</a:t>
            </a:r>
            <a:br/>
            <a:r>
              <a:t>Network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4088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8660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Executive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3252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Underwriting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3272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7844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Contracting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Timeline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54864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54480" y="1051560"/>
            <a:ext cx="182880" cy="32004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26012"/>
                </a:solidFill>
                <a:latin typeface="Calibri"/>
              </a:defRPr>
            </a:pPr>
            <a:r>
              <a:t>MVP 1</a:t>
            </a:r>
            <a:br/>
            <a:r>
              <a:t>Mar 1,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560320" cy="77724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0428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Member Scoring</a:t>
            </a:r>
            <a:br/>
            <a:r>
              <a:t>10% of Members</a:t>
            </a:r>
            <a:br/>
            <a:r>
              <a:t>(~5M members)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4 weeks</a:t>
            </a:r>
            <a:br/>
            <a:r>
              <a:t>Feb 3 - Mar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Extract 24mo claims + enrollment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Build 85-feature matrix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Train XGBoost + LightGBM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SHAP explainability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Risk tier assignment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Dashboard v1 (member view)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051560"/>
            <a:ext cx="182880" cy="32004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  <a:latin typeface="Calibri"/>
              </a:defRPr>
            </a:pPr>
            <a:r>
              <a:t>MVP 2</a:t>
            </a:r>
            <a:br/>
            <a:r>
              <a:t>Apr 1,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286000"/>
            <a:ext cx="2560320" cy="77724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30428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Member Scoring</a:t>
            </a:r>
            <a:br/>
            <a:r>
              <a:t>100% Scale-Up</a:t>
            </a:r>
            <a:br/>
            <a:r>
              <a:t>(50M members)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4 weeks</a:t>
            </a:r>
            <a:br/>
            <a:r>
              <a:t>Mar 2 - Apr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Scale pipeline to full population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Add SDOH features (5 free sources)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Fairness audit + calibration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Weekly CM feed automation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Actuarial / stop-loss integration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Production monitoring (PSI)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051560"/>
            <a:ext cx="182880" cy="32004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5496"/>
                </a:solidFill>
                <a:latin typeface="Calibri"/>
              </a:defRPr>
            </a:pPr>
            <a:r>
              <a:t>MVP 3</a:t>
            </a:r>
            <a:br/>
            <a:r>
              <a:t>May 1,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286000"/>
            <a:ext cx="2560320" cy="77724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30428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Provider Scoring</a:t>
            </a:r>
            <a:br/>
            <a:r>
              <a:t>All 1.2M Providers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4 weeks</a:t>
            </a:r>
            <a:br/>
            <a:r>
              <a:t>Apr 2 - May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47472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Provider clustering (embeddings)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Admin/Coding Maturity Index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Economic Performance Index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Cross-link member scores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Provider risk tiers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Dashboard v2 (member + provider)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95560" y="1051560"/>
            <a:ext cx="182880" cy="3200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5B6"/>
                </a:solidFill>
                <a:latin typeface="Calibri"/>
              </a:defRPr>
            </a:pPr>
            <a:r>
              <a:t>Full Platform</a:t>
            </a:r>
            <a:br/>
            <a:r>
              <a:t>Jun 1, 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2286000"/>
            <a:ext cx="2560320" cy="7772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30428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Combined Dashboard</a:t>
            </a:r>
            <a:br/>
            <a:r>
              <a:t>+ VBC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4 weeks</a:t>
            </a:r>
            <a:br/>
            <a:r>
              <a:t>May 2 - Jun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47472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VBC contract integration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Provider outreach automation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Real-time scoring API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User training + rollout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Phase 2 roadmap kickoff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A/B testing framework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Expected Operational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AEGIS directly addresses the three drivers cited in UHC earnings releases: elevated medical cost trends, hospital coding intensity, and actuarial pricing gaps.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566160" cy="5943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MCR Improvement</a:t>
            </a:r>
            <a:br/>
            <a:r>
              <a:t>Levers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Identify high-cost members 90 days before cost spikes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Enable proactive Care Management intervention before claims incur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Shift actuarial pricing from 12-month backward to 90-day forward view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Improve IBNR reserve accuracy with member-level predictions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Reduce stop-loss mispricing via better tail-risk visibility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3566160" cy="59436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5727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Operational</a:t>
            </a:r>
            <a:br/>
            <a:r>
              <a:t>Efficiency Gains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Automate weekly risk-scored member lists to Care Management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Replace manual provider performance reports with real-time indices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Unify siloed signals (claims, Rx, SDOH) into one predictive score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Enable data-driven provider contracting and VBC negotiations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Reduce time-to-insight from months to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566160" cy="59436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727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Strategic</a:t>
            </a:r>
            <a:br/>
            <a:r>
              <a:t>Advantage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First-mover predictive platform across 50M+ members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Provider risk scoring creates leverage for network negotiations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SHAP explainability builds regulator and clinician trust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Scalable framework: add new use cases (readmission, Rx adherence)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Positions UHC to meet 2026 MCR guidance of 88.8%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86400"/>
            <a:ext cx="11247120" cy="73152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532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Benchmark:  Every 100 basis points of MCR improvement directly restores operating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4F0"/>
                </a:solidFill>
                <a:latin typeface="Calibri"/>
              </a:defRPr>
            </a:pPr>
            <a:r>
              <a:t>UHC went from 5.2% to 2.7% operating margin in one year.  Predictive signals are the fastest path to reverse that trend.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Ask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48640" cy="10972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Approve MVP 1 Sprint 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508760"/>
            <a:ext cx="1371600" cy="27432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52704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Feb 3,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Green-light the 4-week sprint to build Member Risk Scoring on 10% of the member population. Deliver scored risk list to Care Management by March 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548640" cy="10972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Data Access Authorization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2834640"/>
            <a:ext cx="1371600" cy="27432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85292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Immediate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54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Grant analytics team access to 24 months of claims (837P/I), enrollment (834), and remittance (835) data in the analytics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49039"/>
            <a:ext cx="548640" cy="10972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3191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7947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Stakeholder Alignment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4160519"/>
            <a:ext cx="1371600" cy="27432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178807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8055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Schedule 30-min sessions with Care Management, Actuarial, and Network leads to align on risk tier thresholds and dashboard requirements.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74920"/>
            <a:ext cx="548640" cy="10972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257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Fund Full Platform Build-Out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0160" y="5486400"/>
            <a:ext cx="1371600" cy="27432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550468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By Apr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Based on MVP 1 results, approve Year 1 budget for full AEGIS platform: member + provider scoring, dashboard, production pipeline, and team allocation.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