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303520"/>
            <a:ext cx="12191695" cy="54864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D6E4F0"/>
                </a:solidFill>
                <a:latin typeface="Calibri"/>
              </a:defRPr>
            </a:pPr>
            <a:r>
              <a:t>Advanced Early Warning Signal Intelligent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Member Risk Scoring  &amp;  Provider Risk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Executive Briefing  |  VP &amp; CFO Review  |  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UnitedHealth Group  |  Data Science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UHC manages 50M+ members and 1.2M+ providers across Commercial, Medicare Advantage, and Medicaid.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74720" cy="411480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High-Cost Claimant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2.2% of members = 23% of total spend (~$46B/year). These members are identifiable 90 days early but we lack a systematic prediction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54880"/>
            <a:ext cx="3200400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$46B/yr concentrated in 1.1M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474720" cy="411480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No Unified Provider Risk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5146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Provider performance is scattered across siloed reports. No integrated view of administrative maturity, economic efficiency, and member risk concentration per provider.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39" y="4754880"/>
            <a:ext cx="3200400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1.2M+ providers with no composite risk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828800"/>
            <a:ext cx="3474720" cy="411480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Reactive, Not Predictive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5146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Current processes identify high-cost members AFTER costs are incurred. Care Management, Actuarial, and Stop-Loss teams operate on lagging indicators — no forward-looking early warning 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754880"/>
            <a:ext cx="3200400" cy="9144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$920M-$1.38B annual savings potential if we predict 90 days early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Overall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Build "AEGIS" — a unified early warning platform that predicts member cost risk AND provider performance risk, presented through a single Executive Dashboard for proactive decision-making.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572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Predict which members will exceed $50K / $100K / $250K next quarter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Estimate expected spend per member with confidence intervals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Assign risk tiers: CRITICAL | HIGH | ELEVATED | WATCH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Provide SHAP-based explainability (top cost drivers per member)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Care Management, Actuarial, and Stop-Loss teams weekly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Cluster providers by geo, specialty, and practice embeddings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Compute Economic Performance Index (denial ratio, 1st-pass rate, cost efficiency)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Compute Administrative / Coding Maturity Index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Link member risk scores to provider panels (cross-input)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Network Management, Contracting, and Value-Based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64240" cy="45720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Both streams converge into a single Early Warning Intelligence Signal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Member Risk Scoring  —  Approach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Two-Stage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1: XGBoost Binary Classifier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"Will this member exceed $50K next quarter?"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85 features across 6 categories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Target: AUC-ROC &gt; 0.85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2: LightGBM Cost Regression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"HOW MUCH will they cost?"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Log-transformed target for skewed spend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Confidence intervals per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Risk Tier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1371600" cy="384048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184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&gt; 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&gt; $150K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16184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~25,000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39112"/>
            <a:ext cx="1371600" cy="384048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57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0.50-0.70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$75K-$150K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20574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~50,000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78024"/>
            <a:ext cx="1371600" cy="384048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ELEVATED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496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0.30-0.50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$50K-$75K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24963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~125,000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16936"/>
            <a:ext cx="1371600" cy="3840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9352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0.15-0.30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$25K-$50K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9352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~250,000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55848"/>
            <a:ext cx="1371600" cy="384048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741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&lt; 0.15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&lt; $25K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3741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~45.5M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891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Scale &amp; 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50M+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Total Members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2316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1.1M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High-Cost (top 2.2%)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$46B/yr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Top 2.2% Spend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19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19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$920M+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19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Annual Savings Potential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ML Features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212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MVP Timeline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Provider Risk Scoring  —  Approach &amp; Indices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Group 1.2M+ providers into peer cohorts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Features: geo (lat/lon), specialty, payer mix, case mix, volume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Method: UMAP + HDBSCAN embeddings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Output: Peer groups for fair comparison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Example: Urban Cardiologists, Rural PCPs, Academic Oncologists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/ Coding</a:t>
            </a:r>
            <a:br/>
            <a:r>
              <a:t>Maturity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First-Pass Claim Rate (30%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Denial Rate inverse (25%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Coding Specificity Score (20%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Avg Days to Submit inverse (15%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Rework Rate inverse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Output: 0-100 composite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59436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Economic</a:t>
            </a:r>
            <a:br/>
            <a:r>
              <a:t>Performance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Risk-Adjusted Cost Index / O:E (35%)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First-Pass Rate (15%)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Denial Rate inverse (15%)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Network Leakage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Readmission Rate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Cost Trend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Total Cost of Care PMPY (5%)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11247120" cy="5029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389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Cross-Input:  Member Risk Scores flow INTO Provider Scoring  →  % of panel flagged CRITICAL/HIGH + avg member risk score per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Provider Risk Tiers: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760720"/>
            <a:ext cx="1920240" cy="384048"/>
          </a:xfrm>
          <a:prstGeom prst="round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TOP PERFORMER  (&gt; 80)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79" y="5760720"/>
            <a:ext cx="1920240" cy="384048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4999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  (60-80)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760720"/>
            <a:ext cx="1920240" cy="384048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WATCH  (40-60)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5760720"/>
            <a:ext cx="1920240" cy="384048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CONCERN  (&lt; 40)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486400" cy="365760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486400" cy="411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Medical Claims</a:t>
            </a:r>
            <a:br/>
            <a:r>
              <a:t>837P/837I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Call Center</a:t>
            </a:r>
            <a:br/>
            <a:r>
              <a:t>IVR/CRM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Remittance</a:t>
            </a:r>
            <a:br/>
            <a:r>
              <a:t>835/EOB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Enrollment</a:t>
            </a:r>
            <a:br/>
            <a:r>
              <a:t>834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ETL → Feature Store (85)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XGBoost → LightGBM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291840"/>
            <a:ext cx="34747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Member Risk Score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97280"/>
            <a:ext cx="5486400" cy="36576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1097280"/>
            <a:ext cx="5486400" cy="41148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Provider NPI</a:t>
            </a:r>
            <a:br/>
            <a:r>
              <a:t>NPPES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Claims per</a:t>
            </a:r>
            <a:br/>
            <a:r>
              <a:t>Provider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New Drug</a:t>
            </a:r>
            <a:br/>
            <a:r>
              <a:t>Formulary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External</a:t>
            </a:r>
            <a:br/>
            <a:r>
              <a:t>Geo/Market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Clustering + Indices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Econ Perf + Admin Idx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291840"/>
            <a:ext cx="347472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Provider Risk Score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26012"/>
                </a:solidFill>
                <a:latin typeface="Calibri"/>
              </a:defRPr>
            </a:pPr>
            <a:r>
              <a:t>+ Member Scores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120640"/>
            <a:ext cx="75895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51389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Early Warning Intelligence Signal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Care Mgmt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Actuarial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476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Stop-Loss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6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Provider</a:t>
            </a:r>
            <a:br/>
            <a:r>
              <a:t>Network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Underwriting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Contracting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Timeline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1051560"/>
            <a:ext cx="182880" cy="3200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6012"/>
                </a:solidFill>
                <a:latin typeface="Calibri"/>
              </a:defRPr>
            </a:pPr>
            <a:r>
              <a:t>MVP 1</a:t>
            </a:r>
            <a:br/>
            <a:r>
              <a:t>Mar 1,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60320" cy="7772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10% of Members</a:t>
            </a:r>
            <a:br/>
            <a:r>
              <a:t>(~5M members)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Feb 3 - Mar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Extract 24mo claims + enrollment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Build 85-feature matrix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Train XGBoost + LightGBM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SHAP explainability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Risk tier assignment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v1 (member view)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051560"/>
            <a:ext cx="18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MVP 2</a:t>
            </a:r>
            <a:br/>
            <a:r>
              <a:t>Apr 1,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560320" cy="7772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100% Scale-Up</a:t>
            </a:r>
            <a:br/>
            <a:r>
              <a:t>(50M members)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Mar 2 - Apr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Scale pipeline to full population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Add SDOH features (5 free sources)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Fairness audit + calibration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Weekly CM feed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Actuarial / stop-loss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Production monitoring (PSI)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051560"/>
            <a:ext cx="182880" cy="3200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5496"/>
                </a:solidFill>
                <a:latin typeface="Calibri"/>
              </a:defRPr>
            </a:pPr>
            <a:r>
              <a:t>MVP 3</a:t>
            </a:r>
            <a:br/>
            <a:r>
              <a:t>May 1,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560320" cy="7772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Provider Scoring</a:t>
            </a:r>
            <a:br/>
            <a:r>
              <a:t>All 1.2M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Apr 2 - May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clustering (embeddings)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Admin/Coding Maturity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Economic Performance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Cross-link member scores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risk tiers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v2 (member + provider)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051560"/>
            <a:ext cx="182880" cy="3200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5B6"/>
                </a:solidFill>
                <a:latin typeface="Calibri"/>
              </a:defRPr>
            </a:pPr>
            <a:r>
              <a:t>Full Platform</a:t>
            </a:r>
            <a:br/>
            <a:r>
              <a:t>Jun 1,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56032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Combined Dashboard</a:t>
            </a:r>
            <a:br/>
            <a:r>
              <a:t>+ VBC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May 2 - Jun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VBC contract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outreach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Real-time scoring API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User training + rollout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Phase 2 roadmap kickoff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A/B testing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Expected Impact &amp;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029200" cy="4572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Investment (Year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$150K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Data Science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$200K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SDOH Data (free sources)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Cloud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Dashboard /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$50K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5029200" cy="4572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TOTAL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$450K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97280"/>
            <a:ext cx="5394960" cy="45720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1155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Expected Returns (Year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CM Cost Avoidance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$50M - $150M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(20% intervention x 10-15% reduction)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IBNR Accuracy 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$20M - $50M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Stop-Loss Pricing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$10M - $30M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Provider Network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$15M - $40M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566160"/>
            <a:ext cx="5394960" cy="457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6012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26012"/>
                </a:solidFill>
                <a:latin typeface="Calibri"/>
              </a:defRPr>
            </a:pPr>
            <a:r>
              <a:t>$95M - $270M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572000"/>
            <a:ext cx="75895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466344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ROI:  211x  -  600x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25780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E4F0"/>
                </a:solidFill>
                <a:latin typeface="Calibri"/>
              </a:defRPr>
            </a:pPr>
            <a:r>
              <a:t>$450K investment  →  $95M - $270M return in Year 1</a:t>
            </a:r>
            <a:br/>
            <a:r>
              <a:t>Even a 5% improvement in identification accuracy = $230M/year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Ask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Approve MVP 1 Sprint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50876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52704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Feb 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Green-light the 4-week sprint to build Member Risk Scoring on 10% of members (~5M). Deliver scored risk list to Care Management by March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Data Access 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83464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8529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Grant analytics team access to 24 months of claims (837P/I), enrollment (834), and remittance (835) data in the analytics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9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Stakeholder Alignment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160519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178807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Schedule 30-min sessions with Care Management, Actuarial, and Network leads to align on risk tier thresholds and dashboard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Fund Full Platform ($450K)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548640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5046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By Apr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Based on MVP 1 results, approve Year 1 budget for full AEGIS platform: member + provider scoring, dashboard, production pipeline, and team allocation.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